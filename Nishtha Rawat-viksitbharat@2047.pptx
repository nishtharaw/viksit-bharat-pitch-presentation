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1" r:id="rId3"/>
    <p:sldId id="257" r:id="rId4"/>
    <p:sldId id="261" r:id="rId5"/>
    <p:sldId id="262" r:id="rId6"/>
    <p:sldId id="267" r:id="rId7"/>
    <p:sldId id="264" r:id="rId8"/>
    <p:sldId id="265" r:id="rId9"/>
    <p:sldId id="27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C3B8"/>
    <a:srgbClr val="F05A28"/>
    <a:srgbClr val="C51E33"/>
    <a:srgbClr val="05BBD0"/>
    <a:srgbClr val="F6941D"/>
    <a:srgbClr val="E90483"/>
    <a:srgbClr val="FFDD17"/>
    <a:srgbClr val="BF1E30"/>
    <a:srgbClr val="F7941D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39" d="100"/>
          <a:sy n="39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>
            <a:alphaModFix amt="50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eb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840865" y="802958"/>
            <a:ext cx="850963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hi-IN" altLang="en-US" sz="7200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</a:rPr>
              <a:t>विकसित भारत </a:t>
            </a:r>
            <a:r>
              <a:rPr lang="en-US" sz="7200"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</a:rPr>
              <a:t>@2047 </a:t>
            </a:r>
          </a:p>
        </p:txBody>
      </p:sp>
      <p:sp>
        <p:nvSpPr>
          <p:cNvPr id="16" name="Rectangles 15"/>
          <p:cNvSpPr/>
          <p:nvPr/>
        </p:nvSpPr>
        <p:spPr>
          <a:xfrm>
            <a:off x="2237740" y="2468880"/>
            <a:ext cx="77165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en-US" sz="7200" b="1">
                <a:ln w="15875">
                  <a:gradFill>
                    <a:gsLst>
                      <a:gs pos="0">
                        <a:schemeClr val="accent1">
                          <a:hueMod val="80000"/>
                        </a:schemeClr>
                      </a:gs>
                      <a:gs pos="100000">
                        <a:schemeClr val="accent1"/>
                      </a:gs>
                    </a:gsLst>
                    <a:lin ang="2700000" scaled="1"/>
                  </a:gradFill>
                </a:ln>
                <a:blipFill>
                  <a:blip r:embed="rId2"/>
                  <a:stretch>
                    <a:fillRect/>
                  </a:stretch>
                </a:blipFill>
                <a:effectLst/>
              </a:rPr>
              <a:t>Empowered Indians</a:t>
            </a:r>
          </a:p>
        </p:txBody>
      </p:sp>
      <p:pic>
        <p:nvPicPr>
          <p:cNvPr id="104" name="Picture 103"/>
          <p:cNvPicPr/>
          <p:nvPr/>
        </p:nvPicPr>
        <p:blipFill>
          <a:blip r:embed="rId3"/>
          <a:srcRect t="18597"/>
          <a:stretch>
            <a:fillRect/>
          </a:stretch>
        </p:blipFill>
        <p:spPr>
          <a:xfrm>
            <a:off x="1270" y="4404360"/>
            <a:ext cx="12190730" cy="32048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Picture 105"/>
          <p:cNvPicPr/>
          <p:nvPr/>
        </p:nvPicPr>
        <p:blipFill>
          <a:blip r:embed="rId4"/>
          <a:srcRect l="44506" b="71296"/>
          <a:stretch>
            <a:fillRect/>
          </a:stretch>
        </p:blipFill>
        <p:spPr>
          <a:xfrm rot="19860000">
            <a:off x="-217805" y="-502285"/>
            <a:ext cx="2809240" cy="2179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3"/>
          <p:cNvPicPr/>
          <p:nvPr/>
        </p:nvPicPr>
        <p:blipFill>
          <a:blip r:embed="rId4"/>
          <a:srcRect l="1744" r="22153" b="76430"/>
          <a:stretch>
            <a:fillRect/>
          </a:stretch>
        </p:blipFill>
        <p:spPr>
          <a:xfrm rot="1620000">
            <a:off x="8720455" y="-661035"/>
            <a:ext cx="3852545" cy="1790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9250045" y="4641215"/>
            <a:ext cx="4064000" cy="614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en-US"/>
              <a:t>-</a:t>
            </a:r>
            <a:r>
              <a:rPr lang="en-AU" altLang="en-US" sz="2000"/>
              <a:t>Nishtha Rawat</a:t>
            </a:r>
          </a:p>
          <a:p>
            <a:r>
              <a:rPr lang="en-AU" altLang="en-US" sz="1400"/>
              <a:t>Biotechnology II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50000"/>
          </a:blip>
          <a:stretch>
            <a:fillRect l="11000" t="8000" r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-198120" y="-158115"/>
            <a:ext cx="12600000" cy="1332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alt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</a:t>
            </a:r>
            <a:r>
              <a:rPr lang="en-US" sz="4400">
                <a:sym typeface="+mn-ea"/>
              </a:rPr>
              <a:t>Bharat </a:t>
            </a:r>
            <a:r>
              <a:rPr lang="en-IN" altLang="en-US" sz="4400">
                <a:sym typeface="+mn-ea"/>
              </a:rPr>
              <a:t>@</a:t>
            </a:r>
            <a:r>
              <a:rPr lang="en-US" sz="4400">
                <a:sym typeface="+mn-ea"/>
              </a:rPr>
              <a:t> 2047</a:t>
            </a:r>
            <a:endParaRPr lang="en-IN" altLang="en-US" sz="440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grpSp>
        <p:nvGrpSpPr>
          <p:cNvPr id="44" name="Group 43"/>
          <p:cNvGrpSpPr/>
          <p:nvPr/>
        </p:nvGrpSpPr>
        <p:grpSpPr>
          <a:xfrm>
            <a:off x="1648460" y="2141855"/>
            <a:ext cx="8907145" cy="3736340"/>
            <a:chOff x="1110" y="1817"/>
            <a:chExt cx="14027" cy="5884"/>
          </a:xfrm>
        </p:grpSpPr>
        <p:sp>
          <p:nvSpPr>
            <p:cNvPr id="3" name="Hexagon 2"/>
            <p:cNvSpPr/>
            <p:nvPr/>
          </p:nvSpPr>
          <p:spPr>
            <a:xfrm>
              <a:off x="1110" y="3249"/>
              <a:ext cx="3345" cy="2835"/>
            </a:xfrm>
            <a:prstGeom prst="hexagon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>
              <a:off x="9122" y="1817"/>
              <a:ext cx="3402" cy="2835"/>
            </a:xfrm>
            <a:prstGeom prst="hexagon">
              <a:avLst/>
            </a:prstGeom>
            <a:solidFill>
              <a:srgbClr val="E9048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754" y="1817"/>
              <a:ext cx="3402" cy="2835"/>
            </a:xfrm>
            <a:prstGeom prst="hexagon">
              <a:avLst/>
            </a:prstGeom>
            <a:solidFill>
              <a:srgbClr val="05BBD0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 rot="19980000">
              <a:off x="1188" y="2855"/>
              <a:ext cx="3487" cy="3427"/>
            </a:xfrm>
            <a:custGeom>
              <a:avLst/>
              <a:gdLst>
                <a:gd name="idx" fmla="cos wd2 2700000"/>
                <a:gd name="idy" fmla="sin hd2 2700000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487" h="3427">
                  <a:moveTo>
                    <a:pt x="1287" y="0"/>
                  </a:moveTo>
                  <a:lnTo>
                    <a:pt x="3055" y="901"/>
                  </a:lnTo>
                  <a:lnTo>
                    <a:pt x="3053" y="1223"/>
                  </a:lnTo>
                  <a:lnTo>
                    <a:pt x="3148" y="1223"/>
                  </a:lnTo>
                  <a:cubicBezTo>
                    <a:pt x="3336" y="1223"/>
                    <a:pt x="3487" y="1440"/>
                    <a:pt x="3487" y="1707"/>
                  </a:cubicBezTo>
                  <a:cubicBezTo>
                    <a:pt x="3487" y="1974"/>
                    <a:pt x="3336" y="2190"/>
                    <a:pt x="3148" y="2190"/>
                  </a:cubicBezTo>
                  <a:lnTo>
                    <a:pt x="3045" y="2190"/>
                  </a:lnTo>
                  <a:lnTo>
                    <a:pt x="3043" y="2486"/>
                  </a:lnTo>
                  <a:lnTo>
                    <a:pt x="1768" y="3427"/>
                  </a:lnTo>
                  <a:lnTo>
                    <a:pt x="0" y="2526"/>
                  </a:lnTo>
                  <a:lnTo>
                    <a:pt x="12" y="941"/>
                  </a:lnTo>
                  <a:lnTo>
                    <a:pt x="1287" y="0"/>
                  </a:lnTo>
                  <a:close/>
                </a:path>
              </a:pathLst>
            </a:custGeom>
            <a:solidFill>
              <a:srgbClr val="F7941D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 rot="5400000">
              <a:off x="6540" y="2971"/>
              <a:ext cx="3128" cy="3683"/>
            </a:xfrm>
            <a:custGeom>
              <a:avLst/>
              <a:gdLst>
                <a:gd name="idx" fmla="cos wd2 2700000"/>
                <a:gd name="idy" fmla="sin hd2 2700000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28" h="3683">
                  <a:moveTo>
                    <a:pt x="810" y="0"/>
                  </a:moveTo>
                  <a:cubicBezTo>
                    <a:pt x="943" y="2"/>
                    <a:pt x="1056" y="55"/>
                    <a:pt x="1106" y="154"/>
                  </a:cubicBezTo>
                  <a:lnTo>
                    <a:pt x="1153" y="246"/>
                  </a:lnTo>
                  <a:lnTo>
                    <a:pt x="1418" y="113"/>
                  </a:lnTo>
                  <a:lnTo>
                    <a:pt x="2835" y="822"/>
                  </a:lnTo>
                  <a:lnTo>
                    <a:pt x="2835" y="1392"/>
                  </a:lnTo>
                  <a:lnTo>
                    <a:pt x="2837" y="1393"/>
                  </a:lnTo>
                  <a:cubicBezTo>
                    <a:pt x="3003" y="1435"/>
                    <a:pt x="3128" y="1618"/>
                    <a:pt x="3128" y="1838"/>
                  </a:cubicBezTo>
                  <a:cubicBezTo>
                    <a:pt x="3128" y="2057"/>
                    <a:pt x="3003" y="2240"/>
                    <a:pt x="2837" y="2282"/>
                  </a:cubicBezTo>
                  <a:lnTo>
                    <a:pt x="2835" y="2283"/>
                  </a:lnTo>
                  <a:lnTo>
                    <a:pt x="2835" y="2807"/>
                  </a:lnTo>
                  <a:lnTo>
                    <a:pt x="1417" y="3516"/>
                  </a:lnTo>
                  <a:lnTo>
                    <a:pt x="1175" y="3395"/>
                  </a:lnTo>
                  <a:lnTo>
                    <a:pt x="1106" y="3529"/>
                  </a:lnTo>
                  <a:cubicBezTo>
                    <a:pt x="1021" y="3696"/>
                    <a:pt x="760" y="3733"/>
                    <a:pt x="522" y="3612"/>
                  </a:cubicBezTo>
                  <a:cubicBezTo>
                    <a:pt x="403" y="3551"/>
                    <a:pt x="312" y="3462"/>
                    <a:pt x="262" y="3368"/>
                  </a:cubicBezTo>
                  <a:cubicBezTo>
                    <a:pt x="212" y="3274"/>
                    <a:pt x="202" y="3174"/>
                    <a:pt x="245" y="3090"/>
                  </a:cubicBezTo>
                  <a:lnTo>
                    <a:pt x="310" y="2962"/>
                  </a:lnTo>
                  <a:lnTo>
                    <a:pt x="0" y="2807"/>
                  </a:lnTo>
                  <a:lnTo>
                    <a:pt x="0" y="822"/>
                  </a:lnTo>
                  <a:lnTo>
                    <a:pt x="288" y="678"/>
                  </a:lnTo>
                  <a:lnTo>
                    <a:pt x="245" y="593"/>
                  </a:lnTo>
                  <a:cubicBezTo>
                    <a:pt x="159" y="426"/>
                    <a:pt x="284" y="193"/>
                    <a:pt x="522" y="71"/>
                  </a:cubicBezTo>
                  <a:cubicBezTo>
                    <a:pt x="619" y="22"/>
                    <a:pt x="719" y="-1"/>
                    <a:pt x="810" y="0"/>
                  </a:cubicBezTo>
                  <a:close/>
                </a:path>
              </a:pathLst>
            </a:custGeom>
            <a:solidFill>
              <a:srgbClr val="FFDD17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 rot="12600000">
              <a:off x="3604" y="4229"/>
              <a:ext cx="3376" cy="3472"/>
            </a:xfrm>
            <a:custGeom>
              <a:avLst/>
              <a:gdLst>
                <a:gd name="idx" fmla="cos wd2 2700000"/>
                <a:gd name="idy" fmla="sin hd2 2700000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459" h="3520">
                  <a:moveTo>
                    <a:pt x="1718" y="0"/>
                  </a:moveTo>
                  <a:lnTo>
                    <a:pt x="3041" y="873"/>
                  </a:lnTo>
                  <a:lnTo>
                    <a:pt x="3063" y="1244"/>
                  </a:lnTo>
                  <a:lnTo>
                    <a:pt x="3120" y="1244"/>
                  </a:lnTo>
                  <a:cubicBezTo>
                    <a:pt x="3307" y="1244"/>
                    <a:pt x="3459" y="1461"/>
                    <a:pt x="3459" y="1728"/>
                  </a:cubicBezTo>
                  <a:cubicBezTo>
                    <a:pt x="3459" y="1987"/>
                    <a:pt x="3316" y="2198"/>
                    <a:pt x="3137" y="2211"/>
                  </a:cubicBezTo>
                  <a:lnTo>
                    <a:pt x="3121" y="2211"/>
                  </a:lnTo>
                  <a:lnTo>
                    <a:pt x="3136" y="2455"/>
                  </a:lnTo>
                  <a:lnTo>
                    <a:pt x="2709" y="2701"/>
                  </a:lnTo>
                  <a:lnTo>
                    <a:pt x="2714" y="2712"/>
                  </a:lnTo>
                  <a:cubicBezTo>
                    <a:pt x="2793" y="2874"/>
                    <a:pt x="2681" y="3103"/>
                    <a:pt x="2457" y="3232"/>
                  </a:cubicBezTo>
                  <a:cubicBezTo>
                    <a:pt x="2233" y="3361"/>
                    <a:pt x="1979" y="3343"/>
                    <a:pt x="1878" y="3195"/>
                  </a:cubicBezTo>
                  <a:lnTo>
                    <a:pt x="1872" y="3185"/>
                  </a:lnTo>
                  <a:lnTo>
                    <a:pt x="1417" y="3447"/>
                  </a:lnTo>
                  <a:lnTo>
                    <a:pt x="1172" y="3285"/>
                  </a:lnTo>
                  <a:lnTo>
                    <a:pt x="1101" y="3396"/>
                  </a:lnTo>
                  <a:cubicBezTo>
                    <a:pt x="999" y="3553"/>
                    <a:pt x="735" y="3562"/>
                    <a:pt x="511" y="3417"/>
                  </a:cubicBezTo>
                  <a:cubicBezTo>
                    <a:pt x="287" y="3271"/>
                    <a:pt x="188" y="3026"/>
                    <a:pt x="290" y="2869"/>
                  </a:cubicBezTo>
                  <a:lnTo>
                    <a:pt x="365" y="2752"/>
                  </a:lnTo>
                  <a:lnTo>
                    <a:pt x="95" y="2574"/>
                  </a:lnTo>
                  <a:lnTo>
                    <a:pt x="0" y="992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C51E33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9013" y="4222"/>
              <a:ext cx="3511" cy="3265"/>
            </a:xfrm>
            <a:custGeom>
              <a:avLst/>
              <a:gdLst>
                <a:gd name="adj" fmla="val 25000"/>
                <a:gd name="vf" fmla="val 115470"/>
                <a:gd name="maxAdj" fmla="*/ 50000 w ss"/>
                <a:gd name="a" fmla="pin 0 adj maxAdj"/>
                <a:gd name="shd2" fmla="*/ hd2 vf 100000"/>
                <a:gd name="x1" fmla="*/ ss a 100000"/>
                <a:gd name="x2" fmla="+- r 0 x1"/>
                <a:gd name="dy1" fmla="sin shd2 3600000"/>
                <a:gd name="y1" fmla="+- vc 0 dy1"/>
                <a:gd name="y2" fmla="+- vc dy1 0"/>
                <a:gd name="q1" fmla="*/ maxAdj -1 2"/>
                <a:gd name="q2" fmla="+- a q1 0"/>
                <a:gd name="q3" fmla="?: q2 4 2"/>
                <a:gd name="q4" fmla="?: q2 3 2"/>
                <a:gd name="q5" fmla="?: q2 q1 0"/>
                <a:gd name="q6" fmla="+/ a q5 q1"/>
                <a:gd name="q7" fmla="*/ q6 q4 -1"/>
                <a:gd name="q8" fmla="+- q3 q7 0"/>
                <a:gd name="il" fmla="*/ w q8 24"/>
                <a:gd name="it" fmla="*/ h q8 24"/>
                <a:gd name="ir" fmla="+- r 0 il"/>
                <a:gd name="ib" fmla="+- b 0 it"/>
              </a:gdLst>
              <a:ahLst/>
              <a:cxnLst>
                <a:cxn ang="0">
                  <a:pos x="r" y="vc"/>
                </a:cxn>
                <a:cxn ang="cd4">
                  <a:pos x="x2" y="y2"/>
                </a:cxn>
                <a:cxn ang="cd4">
                  <a:pos x="x1" y="y2"/>
                </a:cxn>
                <a:cxn ang="cd2">
                  <a:pos x="l" y="vc"/>
                </a:cxn>
                <a:cxn ang="3">
                  <a:pos x="x1" y="y1"/>
                </a:cxn>
                <a:cxn ang="3">
                  <a:pos x="x2" y="y1"/>
                </a:cxn>
              </a:cxnLst>
              <a:rect l="l" t="t" r="r" b="b"/>
              <a:pathLst>
                <a:path w="3511" h="3265">
                  <a:moveTo>
                    <a:pt x="1810" y="0"/>
                  </a:moveTo>
                  <a:cubicBezTo>
                    <a:pt x="2061" y="0"/>
                    <a:pt x="2264" y="163"/>
                    <a:pt x="2264" y="364"/>
                  </a:cubicBezTo>
                  <a:lnTo>
                    <a:pt x="2264" y="430"/>
                  </a:lnTo>
                  <a:lnTo>
                    <a:pt x="2802" y="430"/>
                  </a:lnTo>
                  <a:lnTo>
                    <a:pt x="3511" y="1847"/>
                  </a:lnTo>
                  <a:lnTo>
                    <a:pt x="2802" y="3265"/>
                  </a:lnTo>
                  <a:lnTo>
                    <a:pt x="818" y="3265"/>
                  </a:lnTo>
                  <a:lnTo>
                    <a:pt x="109" y="1847"/>
                  </a:lnTo>
                  <a:lnTo>
                    <a:pt x="226" y="1614"/>
                  </a:lnTo>
                  <a:lnTo>
                    <a:pt x="166" y="1579"/>
                  </a:lnTo>
                  <a:cubicBezTo>
                    <a:pt x="74" y="1526"/>
                    <a:pt x="19" y="1428"/>
                    <a:pt x="7" y="1316"/>
                  </a:cubicBezTo>
                  <a:lnTo>
                    <a:pt x="6" y="1300"/>
                  </a:lnTo>
                  <a:lnTo>
                    <a:pt x="4" y="1288"/>
                  </a:lnTo>
                  <a:cubicBezTo>
                    <a:pt x="-8" y="1195"/>
                    <a:pt x="8" y="1091"/>
                    <a:pt x="56" y="992"/>
                  </a:cubicBezTo>
                  <a:cubicBezTo>
                    <a:pt x="166" y="767"/>
                    <a:pt x="401" y="656"/>
                    <a:pt x="582" y="744"/>
                  </a:cubicBezTo>
                  <a:lnTo>
                    <a:pt x="645" y="775"/>
                  </a:lnTo>
                  <a:lnTo>
                    <a:pt x="818" y="430"/>
                  </a:lnTo>
                  <a:lnTo>
                    <a:pt x="1356" y="430"/>
                  </a:lnTo>
                  <a:lnTo>
                    <a:pt x="1356" y="364"/>
                  </a:lnTo>
                  <a:cubicBezTo>
                    <a:pt x="1356" y="163"/>
                    <a:pt x="1559" y="0"/>
                    <a:pt x="1810" y="0"/>
                  </a:cubicBezTo>
                  <a:close/>
                </a:path>
              </a:pathLst>
            </a:custGeom>
            <a:solidFill>
              <a:srgbClr val="F05A28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 rot="8940000">
              <a:off x="11571" y="2991"/>
              <a:ext cx="3566" cy="3489"/>
            </a:xfrm>
            <a:custGeom>
              <a:avLst/>
              <a:gdLst>
                <a:gd name="idx" fmla="cos wd2 2700000"/>
                <a:gd name="idy" fmla="sin hd2 2700000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66" h="3489">
                  <a:moveTo>
                    <a:pt x="1460" y="0"/>
                  </a:moveTo>
                  <a:lnTo>
                    <a:pt x="3161" y="1022"/>
                  </a:lnTo>
                  <a:lnTo>
                    <a:pt x="3135" y="1357"/>
                  </a:lnTo>
                  <a:lnTo>
                    <a:pt x="3202" y="1357"/>
                  </a:lnTo>
                  <a:cubicBezTo>
                    <a:pt x="3404" y="1357"/>
                    <a:pt x="3566" y="1560"/>
                    <a:pt x="3566" y="1811"/>
                  </a:cubicBezTo>
                  <a:cubicBezTo>
                    <a:pt x="3566" y="2062"/>
                    <a:pt x="3404" y="2265"/>
                    <a:pt x="3202" y="2265"/>
                  </a:cubicBezTo>
                  <a:lnTo>
                    <a:pt x="3065" y="2265"/>
                  </a:lnTo>
                  <a:lnTo>
                    <a:pt x="3039" y="2602"/>
                  </a:lnTo>
                  <a:lnTo>
                    <a:pt x="2789" y="2761"/>
                  </a:lnTo>
                  <a:lnTo>
                    <a:pt x="2843" y="2848"/>
                  </a:lnTo>
                  <a:cubicBezTo>
                    <a:pt x="2943" y="3007"/>
                    <a:pt x="2840" y="3250"/>
                    <a:pt x="2614" y="3392"/>
                  </a:cubicBezTo>
                  <a:cubicBezTo>
                    <a:pt x="2387" y="3533"/>
                    <a:pt x="2123" y="3520"/>
                    <a:pt x="2023" y="3360"/>
                  </a:cubicBezTo>
                  <a:lnTo>
                    <a:pt x="1973" y="3280"/>
                  </a:lnTo>
                  <a:lnTo>
                    <a:pt x="1701" y="3452"/>
                  </a:lnTo>
                  <a:lnTo>
                    <a:pt x="0" y="2430"/>
                  </a:lnTo>
                  <a:lnTo>
                    <a:pt x="122" y="850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60C3B8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1508" y="4094"/>
              <a:ext cx="2645" cy="108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saturated schemes</a:t>
              </a:r>
            </a:p>
          </p:txBody>
        </p:sp>
        <p:sp>
          <p:nvSpPr>
            <p:cNvPr id="38" name="Text Box 37"/>
            <p:cNvSpPr txBox="1"/>
            <p:nvPr/>
          </p:nvSpPr>
          <p:spPr>
            <a:xfrm>
              <a:off x="4044" y="2505"/>
              <a:ext cx="2822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poverty reduction</a:t>
              </a:r>
            </a:p>
          </p:txBody>
        </p:sp>
        <p:sp>
          <p:nvSpPr>
            <p:cNvPr id="39" name="Text Box 38"/>
            <p:cNvSpPr txBox="1"/>
            <p:nvPr/>
          </p:nvSpPr>
          <p:spPr>
            <a:xfrm>
              <a:off x="6684" y="3925"/>
              <a:ext cx="2822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Human development</a:t>
              </a:r>
            </a:p>
          </p:txBody>
        </p:sp>
        <p:sp>
          <p:nvSpPr>
            <p:cNvPr id="40" name="Text Box 39"/>
            <p:cNvSpPr txBox="1"/>
            <p:nvPr/>
          </p:nvSpPr>
          <p:spPr>
            <a:xfrm>
              <a:off x="11754" y="3858"/>
              <a:ext cx="3326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Addressing social and economic inequalities</a:t>
              </a:r>
            </a:p>
          </p:txBody>
        </p:sp>
        <p:sp>
          <p:nvSpPr>
            <p:cNvPr id="41" name="Text Box 40"/>
            <p:cNvSpPr txBox="1"/>
            <p:nvPr/>
          </p:nvSpPr>
          <p:spPr>
            <a:xfrm>
              <a:off x="9122" y="5111"/>
              <a:ext cx="3319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Promoting innovation and entrepreneurship</a:t>
              </a:r>
            </a:p>
          </p:txBody>
        </p:sp>
        <p:sp>
          <p:nvSpPr>
            <p:cNvPr id="42" name="Text Box 41"/>
            <p:cNvSpPr txBox="1"/>
            <p:nvPr/>
          </p:nvSpPr>
          <p:spPr>
            <a:xfrm>
              <a:off x="9506" y="2327"/>
              <a:ext cx="2653" cy="159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development of human values</a:t>
              </a:r>
            </a:p>
          </p:txBody>
        </p:sp>
        <p:sp>
          <p:nvSpPr>
            <p:cNvPr id="43" name="Text Box 42"/>
            <p:cNvSpPr txBox="1"/>
            <p:nvPr/>
          </p:nvSpPr>
          <p:spPr>
            <a:xfrm>
              <a:off x="3754" y="5345"/>
              <a:ext cx="3524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en-IN" altLang="en-US" sz="2000">
                  <a:sym typeface="+mn-ea"/>
                </a:rPr>
                <a:t>rural empowerment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 amt="17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-198120" y="-205740"/>
            <a:ext cx="12600000" cy="1332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NEED FOR EMPOWERMENT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l="11071" t="4964" r="13681" b="5187"/>
          <a:stretch>
            <a:fillRect/>
          </a:stretch>
        </p:blipFill>
        <p:spPr>
          <a:xfrm>
            <a:off x="4382770" y="3008630"/>
            <a:ext cx="3417570" cy="3358515"/>
          </a:xfrm>
          <a:prstGeom prst="ellipse">
            <a:avLst/>
          </a:prstGeom>
          <a:noFill/>
        </p:spPr>
      </p:pic>
      <p:sp>
        <p:nvSpPr>
          <p:cNvPr id="10" name="Rounded Rectangle 9"/>
          <p:cNvSpPr/>
          <p:nvPr/>
        </p:nvSpPr>
        <p:spPr>
          <a:xfrm>
            <a:off x="5034000" y="1220470"/>
            <a:ext cx="2124000" cy="1512000"/>
          </a:xfrm>
          <a:prstGeom prst="roundRect">
            <a:avLst/>
          </a:prstGeom>
          <a:blipFill rotWithShape="1">
            <a:blip r:embed="rId4">
              <a:alphaModFix amt="75000"/>
            </a:blip>
            <a:stretch>
              <a:fillRect l="-15000" r="-25000"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>
                <a:ln w="10160">
                  <a:noFill/>
                  <a:prstDash val="solid"/>
                </a:ln>
                <a:solidFill>
                  <a:srgbClr val="038ED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1.</a:t>
            </a:r>
            <a:endParaRPr lang="en-US" sz="2400" b="1">
              <a:ln>
                <a:noFill/>
              </a:ln>
            </a:endParaRPr>
          </a:p>
          <a:p>
            <a:pPr algn="l"/>
            <a:r>
              <a:rPr lang="en-US" sz="2400" b="1">
                <a:ln>
                  <a:noFill/>
                </a:ln>
              </a:rPr>
              <a:t>Unlocking</a:t>
            </a:r>
          </a:p>
          <a:p>
            <a:pPr algn="l"/>
            <a:r>
              <a:rPr lang="en-US" sz="2400" b="1">
                <a:ln>
                  <a:noFill/>
                </a:ln>
              </a:rPr>
              <a:t>potential</a:t>
            </a:r>
            <a:endParaRPr lang="en-US" sz="2000">
              <a:ln>
                <a:noFill/>
              </a:ln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915795" y="4634230"/>
            <a:ext cx="2124000" cy="1512000"/>
          </a:xfrm>
          <a:prstGeom prst="roundRect">
            <a:avLst/>
          </a:prstGeom>
          <a:blipFill rotWithShape="1">
            <a:blip r:embed="rId5">
              <a:alphaModFix amt="75000"/>
            </a:blip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sz="2400" b="1">
                <a:ln w="10160">
                  <a:noFill/>
                  <a:prstDash val="solid"/>
                </a:ln>
                <a:solidFill>
                  <a:srgbClr val="038ED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2.</a:t>
            </a:r>
          </a:p>
          <a:p>
            <a:pPr algn="l"/>
            <a:r>
              <a:rPr lang="en-US" sz="2400" b="1">
                <a:ln>
                  <a:noFill/>
                </a:ln>
              </a:rPr>
              <a:t>Intercultural</a:t>
            </a:r>
          </a:p>
          <a:p>
            <a:pPr algn="l">
              <a:buClrTx/>
              <a:buSzTx/>
              <a:buNone/>
            </a:pPr>
            <a:r>
              <a:rPr lang="en-US" sz="2400" b="1">
                <a:ln>
                  <a:noFill/>
                </a:ln>
              </a:rPr>
              <a:t>collaboration</a:t>
            </a:r>
            <a:endParaRPr lang="en-US" sz="2000">
              <a:ln>
                <a:noFill/>
              </a:ln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09890" y="4634230"/>
            <a:ext cx="2124000" cy="1512000"/>
          </a:xfrm>
          <a:prstGeom prst="roundRect">
            <a:avLst/>
          </a:prstGeom>
          <a:blipFill rotWithShape="1">
            <a:blip r:embed="rId6">
              <a:alphaModFix amt="75000"/>
            </a:blip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FontTx/>
            </a:pPr>
            <a:r>
              <a:rPr lang="en-US" sz="2400" b="1">
                <a:ln w="10160">
                  <a:noFill/>
                  <a:prstDash val="solid"/>
                </a:ln>
                <a:solidFill>
                  <a:srgbClr val="038ED7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3.</a:t>
            </a:r>
            <a:endParaRPr lang="en-US" sz="2400" b="1">
              <a:ln>
                <a:noFill/>
              </a:ln>
            </a:endParaRPr>
          </a:p>
          <a:p>
            <a:pPr algn="l"/>
            <a:r>
              <a:rPr lang="en-US" sz="2400" b="1">
                <a:ln>
                  <a:noFill/>
                </a:ln>
              </a:rPr>
              <a:t>Economic </a:t>
            </a:r>
          </a:p>
          <a:p>
            <a:pPr algn="l"/>
            <a:r>
              <a:rPr lang="en-US" sz="2400" b="1">
                <a:ln>
                  <a:noFill/>
                </a:ln>
              </a:rPr>
              <a:t>Impact</a:t>
            </a:r>
            <a:endParaRPr lang="en-AU" altLang="en-US" sz="2000">
              <a:ln>
                <a:noFill/>
              </a:ln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50000"/>
          </a:blip>
          <a:stretch>
            <a:fillRect t="5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flipV="1">
            <a:off x="2466975" y="2798445"/>
            <a:ext cx="7488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448310" y="1682750"/>
            <a:ext cx="2232000" cy="223200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Government agencies working towards the empowerment of Indians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3823335" y="204851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4722495" y="280035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5591175" y="206883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8197215" y="2798445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9065895" y="206883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9934575" y="281559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7328535" y="205740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459855" y="2810510"/>
            <a:ext cx="0" cy="72000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Rectangles 30"/>
          <p:cNvSpPr/>
          <p:nvPr/>
        </p:nvSpPr>
        <p:spPr>
          <a:xfrm>
            <a:off x="3112770" y="615950"/>
            <a:ext cx="1440000" cy="14400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National Institution for Transforming India </a:t>
            </a:r>
          </a:p>
          <a:p>
            <a:pPr algn="ctr"/>
            <a:r>
              <a:rPr lang="en-US" sz="1600"/>
              <a:t>(NITI Aayog)</a:t>
            </a:r>
          </a:p>
        </p:txBody>
      </p:sp>
      <p:sp>
        <p:nvSpPr>
          <p:cNvPr id="32" name="Rectangles 31"/>
          <p:cNvSpPr/>
          <p:nvPr/>
        </p:nvSpPr>
        <p:spPr>
          <a:xfrm>
            <a:off x="6608445" y="615950"/>
            <a:ext cx="1440000" cy="14400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Ministry of Minority Affairs</a:t>
            </a:r>
          </a:p>
        </p:txBody>
      </p:sp>
      <p:sp>
        <p:nvSpPr>
          <p:cNvPr id="33" name="Rectangles 32"/>
          <p:cNvSpPr/>
          <p:nvPr/>
        </p:nvSpPr>
        <p:spPr>
          <a:xfrm>
            <a:off x="8326755" y="615950"/>
            <a:ext cx="1440000" cy="14400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Ministry of Tribal Affairs</a:t>
            </a:r>
          </a:p>
        </p:txBody>
      </p:sp>
      <p:sp>
        <p:nvSpPr>
          <p:cNvPr id="34" name="Rectangles 33"/>
          <p:cNvSpPr/>
          <p:nvPr/>
        </p:nvSpPr>
        <p:spPr>
          <a:xfrm>
            <a:off x="7474585" y="3540760"/>
            <a:ext cx="1440000" cy="14400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Ministry of Social Justice and Empowerment</a:t>
            </a:r>
          </a:p>
        </p:txBody>
      </p:sp>
      <p:sp>
        <p:nvSpPr>
          <p:cNvPr id="35" name="Rectangles 34"/>
          <p:cNvSpPr/>
          <p:nvPr/>
        </p:nvSpPr>
        <p:spPr>
          <a:xfrm>
            <a:off x="4871085" y="615950"/>
            <a:ext cx="1440000" cy="14400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Ministry of Women and Child Development</a:t>
            </a:r>
          </a:p>
        </p:txBody>
      </p:sp>
      <p:sp>
        <p:nvSpPr>
          <p:cNvPr id="37" name="Rectangles 36"/>
          <p:cNvSpPr/>
          <p:nvPr/>
        </p:nvSpPr>
        <p:spPr>
          <a:xfrm>
            <a:off x="9209405" y="3540760"/>
            <a:ext cx="1440000" cy="1440000"/>
          </a:xfrm>
          <a:prstGeom prst="rect">
            <a:avLst/>
          </a:prstGeom>
          <a:solidFill>
            <a:schemeClr val="bg1">
              <a:alpha val="71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Ministry of health and family welfare</a:t>
            </a:r>
          </a:p>
        </p:txBody>
      </p:sp>
      <p:sp>
        <p:nvSpPr>
          <p:cNvPr id="38" name="Rectangles 37"/>
          <p:cNvSpPr/>
          <p:nvPr/>
        </p:nvSpPr>
        <p:spPr>
          <a:xfrm>
            <a:off x="5739765" y="3542665"/>
            <a:ext cx="1440000" cy="1440000"/>
          </a:xfrm>
          <a:prstGeom prst="rect">
            <a:avLst/>
          </a:prstGeom>
          <a:solidFill>
            <a:schemeClr val="bg1">
              <a:alpha val="71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Ministry of Human Resource Development (now Ministry of Education)</a:t>
            </a:r>
          </a:p>
        </p:txBody>
      </p:sp>
      <p:sp>
        <p:nvSpPr>
          <p:cNvPr id="39" name="Rectangles 38"/>
          <p:cNvSpPr/>
          <p:nvPr/>
        </p:nvSpPr>
        <p:spPr>
          <a:xfrm>
            <a:off x="4004945" y="3540760"/>
            <a:ext cx="1440000" cy="1440000"/>
          </a:xfrm>
          <a:prstGeom prst="rect">
            <a:avLst/>
          </a:prstGeom>
          <a:solidFill>
            <a:schemeClr val="bg1">
              <a:alpha val="71000"/>
            </a:schemeClr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/>
              <a:t>Ministry of Skill Development and Entrepreneur-ship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198120" y="-205740"/>
            <a:ext cx="12672000" cy="1764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 YOUTH EMPOWERMENT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22375" y="1699260"/>
            <a:ext cx="9831070" cy="1114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2800"/>
              <a:t>The role of youth in contributing to the development of India is crucial, as they represent the future of the nation.</a:t>
            </a:r>
          </a:p>
        </p:txBody>
      </p:sp>
      <p:pic>
        <p:nvPicPr>
          <p:cNvPr id="100" name="Picture 99"/>
          <p:cNvPicPr/>
          <p:nvPr/>
        </p:nvPicPr>
        <p:blipFill>
          <a:blip r:embed="rId2"/>
          <a:srcRect t="8714" b="15476"/>
          <a:stretch>
            <a:fillRect/>
          </a:stretch>
        </p:blipFill>
        <p:spPr>
          <a:xfrm>
            <a:off x="4347845" y="2791460"/>
            <a:ext cx="3580130" cy="241046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Elbow Connector 2"/>
          <p:cNvCxnSpPr/>
          <p:nvPr/>
        </p:nvCxnSpPr>
        <p:spPr>
          <a:xfrm flipV="1">
            <a:off x="7891780" y="3002280"/>
            <a:ext cx="906145" cy="631190"/>
          </a:xfrm>
          <a:prstGeom prst="bentConnector3">
            <a:avLst>
              <a:gd name="adj1" fmla="val 50035"/>
            </a:avLst>
          </a:prstGeom>
          <a:ln w="6350" cap="flat" cmpd="sng" algn="ctr">
            <a:solidFill>
              <a:srgbClr val="62B7F4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Elbow Connector 3"/>
          <p:cNvCxnSpPr/>
          <p:nvPr/>
        </p:nvCxnSpPr>
        <p:spPr>
          <a:xfrm rot="10800000">
            <a:off x="3376930" y="3037840"/>
            <a:ext cx="970915" cy="679450"/>
          </a:xfrm>
          <a:prstGeom prst="bentConnector3">
            <a:avLst>
              <a:gd name="adj1" fmla="val 49967"/>
            </a:avLst>
          </a:prstGeom>
          <a:ln w="6350" cap="flat" cmpd="sng" algn="ctr">
            <a:solidFill>
              <a:srgbClr val="E84643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 rot="5400000">
            <a:off x="4883785" y="4601845"/>
            <a:ext cx="776605" cy="744855"/>
          </a:xfrm>
          <a:prstGeom prst="bentConnector3">
            <a:avLst>
              <a:gd name="adj1" fmla="val 50041"/>
            </a:avLst>
          </a:prstGeom>
          <a:ln w="6350" cap="flat" cmpd="sng" algn="ctr">
            <a:solidFill>
              <a:srgbClr val="405315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Text Box 8"/>
          <p:cNvSpPr txBox="1"/>
          <p:nvPr/>
        </p:nvSpPr>
        <p:spPr>
          <a:xfrm>
            <a:off x="937260" y="2825115"/>
            <a:ext cx="2900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/>
              <a:t>Building skill based workforce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37260" y="3543300"/>
            <a:ext cx="2279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Investing in youth empowers them with the necessary skills for economic growth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498090" y="5299075"/>
            <a:ext cx="3048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/>
              <a:t>Youth as agents of chang</a:t>
            </a:r>
            <a:r>
              <a:rPr lang="en-IN" altLang="en-US" sz="2000" b="1"/>
              <a:t>e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2498090" y="566610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Empowered youth can drive innovation and bring about positive social transformation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8903335" y="2813685"/>
            <a:ext cx="275780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 sz="2000" b="1"/>
              <a:t>P</a:t>
            </a:r>
            <a:r>
              <a:rPr lang="en-US" sz="2000" b="1"/>
              <a:t>romoting social inclusivity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8797925" y="3681730"/>
            <a:ext cx="286385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IN" altLang="en-US"/>
              <a:t>Y</a:t>
            </a:r>
            <a:r>
              <a:rPr lang="en-US"/>
              <a:t>outh empowerment ensures equal opportunities and representation for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 amt="11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-198120" y="-205740"/>
            <a:ext cx="12600000" cy="1332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SWOT analysis</a:t>
            </a:r>
          </a:p>
        </p:txBody>
      </p:sp>
      <p:sp>
        <p:nvSpPr>
          <p:cNvPr id="7" name="Freeform 6"/>
          <p:cNvSpPr/>
          <p:nvPr/>
        </p:nvSpPr>
        <p:spPr>
          <a:xfrm>
            <a:off x="4440873" y="1987550"/>
            <a:ext cx="3248025" cy="32353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15" h="5095">
                <a:moveTo>
                  <a:pt x="1210" y="483"/>
                </a:moveTo>
                <a:cubicBezTo>
                  <a:pt x="787" y="483"/>
                  <a:pt x="445" y="826"/>
                  <a:pt x="445" y="1248"/>
                </a:cubicBezTo>
                <a:cubicBezTo>
                  <a:pt x="445" y="1671"/>
                  <a:pt x="787" y="2014"/>
                  <a:pt x="1210" y="2014"/>
                </a:cubicBezTo>
                <a:cubicBezTo>
                  <a:pt x="1633" y="2014"/>
                  <a:pt x="1975" y="1671"/>
                  <a:pt x="1975" y="1248"/>
                </a:cubicBezTo>
                <a:cubicBezTo>
                  <a:pt x="1975" y="826"/>
                  <a:pt x="1633" y="483"/>
                  <a:pt x="1210" y="483"/>
                </a:cubicBezTo>
                <a:close/>
                <a:moveTo>
                  <a:pt x="1210" y="77"/>
                </a:moveTo>
                <a:cubicBezTo>
                  <a:pt x="1878" y="77"/>
                  <a:pt x="2420" y="601"/>
                  <a:pt x="2420" y="1248"/>
                </a:cubicBezTo>
                <a:cubicBezTo>
                  <a:pt x="2420" y="1639"/>
                  <a:pt x="2420" y="2029"/>
                  <a:pt x="2420" y="2420"/>
                </a:cubicBezTo>
                <a:cubicBezTo>
                  <a:pt x="2017" y="2420"/>
                  <a:pt x="1613" y="2420"/>
                  <a:pt x="1210" y="2420"/>
                </a:cubicBezTo>
                <a:cubicBezTo>
                  <a:pt x="542" y="2420"/>
                  <a:pt x="0" y="1895"/>
                  <a:pt x="0" y="1248"/>
                </a:cubicBezTo>
                <a:cubicBezTo>
                  <a:pt x="0" y="601"/>
                  <a:pt x="542" y="77"/>
                  <a:pt x="1210" y="77"/>
                </a:cubicBezTo>
                <a:close/>
                <a:moveTo>
                  <a:pt x="3867" y="483"/>
                </a:moveTo>
                <a:cubicBezTo>
                  <a:pt x="3444" y="483"/>
                  <a:pt x="3102" y="826"/>
                  <a:pt x="3102" y="1248"/>
                </a:cubicBezTo>
                <a:cubicBezTo>
                  <a:pt x="3102" y="1671"/>
                  <a:pt x="3444" y="2014"/>
                  <a:pt x="3867" y="2014"/>
                </a:cubicBezTo>
                <a:cubicBezTo>
                  <a:pt x="4290" y="2014"/>
                  <a:pt x="4632" y="1671"/>
                  <a:pt x="4632" y="1248"/>
                </a:cubicBezTo>
                <a:cubicBezTo>
                  <a:pt x="4632" y="826"/>
                  <a:pt x="4290" y="483"/>
                  <a:pt x="3867" y="483"/>
                </a:cubicBezTo>
                <a:close/>
                <a:moveTo>
                  <a:pt x="3867" y="0"/>
                </a:moveTo>
                <a:cubicBezTo>
                  <a:pt x="4514" y="0"/>
                  <a:pt x="5039" y="542"/>
                  <a:pt x="5039" y="1210"/>
                </a:cubicBezTo>
                <a:cubicBezTo>
                  <a:pt x="5039" y="1878"/>
                  <a:pt x="4514" y="2420"/>
                  <a:pt x="3867" y="2420"/>
                </a:cubicBezTo>
                <a:cubicBezTo>
                  <a:pt x="3477" y="2420"/>
                  <a:pt x="3086" y="2420"/>
                  <a:pt x="2696" y="2420"/>
                </a:cubicBezTo>
                <a:cubicBezTo>
                  <a:pt x="2696" y="2017"/>
                  <a:pt x="2696" y="1613"/>
                  <a:pt x="2696" y="1210"/>
                </a:cubicBezTo>
                <a:cubicBezTo>
                  <a:pt x="2696" y="542"/>
                  <a:pt x="3220" y="0"/>
                  <a:pt x="3867" y="0"/>
                </a:cubicBezTo>
                <a:close/>
                <a:moveTo>
                  <a:pt x="1210" y="3120"/>
                </a:moveTo>
                <a:cubicBezTo>
                  <a:pt x="787" y="3120"/>
                  <a:pt x="445" y="3463"/>
                  <a:pt x="445" y="3885"/>
                </a:cubicBezTo>
                <a:cubicBezTo>
                  <a:pt x="445" y="4308"/>
                  <a:pt x="787" y="4651"/>
                  <a:pt x="1210" y="4651"/>
                </a:cubicBezTo>
                <a:cubicBezTo>
                  <a:pt x="1633" y="4651"/>
                  <a:pt x="1975" y="4308"/>
                  <a:pt x="1975" y="3885"/>
                </a:cubicBezTo>
                <a:cubicBezTo>
                  <a:pt x="1975" y="3463"/>
                  <a:pt x="1633" y="3120"/>
                  <a:pt x="1210" y="3120"/>
                </a:cubicBezTo>
                <a:close/>
                <a:moveTo>
                  <a:pt x="1249" y="2675"/>
                </a:moveTo>
                <a:cubicBezTo>
                  <a:pt x="1640" y="2675"/>
                  <a:pt x="2030" y="2675"/>
                  <a:pt x="2421" y="2675"/>
                </a:cubicBezTo>
                <a:cubicBezTo>
                  <a:pt x="2421" y="3078"/>
                  <a:pt x="2421" y="3482"/>
                  <a:pt x="2421" y="3885"/>
                </a:cubicBezTo>
                <a:cubicBezTo>
                  <a:pt x="2421" y="4553"/>
                  <a:pt x="1896" y="5095"/>
                  <a:pt x="1249" y="5095"/>
                </a:cubicBezTo>
                <a:cubicBezTo>
                  <a:pt x="602" y="5095"/>
                  <a:pt x="78" y="4553"/>
                  <a:pt x="78" y="3885"/>
                </a:cubicBezTo>
                <a:cubicBezTo>
                  <a:pt x="78" y="3217"/>
                  <a:pt x="602" y="2675"/>
                  <a:pt x="1249" y="2675"/>
                </a:cubicBezTo>
                <a:close/>
                <a:moveTo>
                  <a:pt x="3867" y="3120"/>
                </a:moveTo>
                <a:cubicBezTo>
                  <a:pt x="3444" y="3120"/>
                  <a:pt x="3102" y="3463"/>
                  <a:pt x="3102" y="3885"/>
                </a:cubicBezTo>
                <a:cubicBezTo>
                  <a:pt x="3102" y="4308"/>
                  <a:pt x="3444" y="4651"/>
                  <a:pt x="3867" y="4651"/>
                </a:cubicBezTo>
                <a:cubicBezTo>
                  <a:pt x="4290" y="4651"/>
                  <a:pt x="4632" y="4308"/>
                  <a:pt x="4632" y="3885"/>
                </a:cubicBezTo>
                <a:cubicBezTo>
                  <a:pt x="4632" y="3463"/>
                  <a:pt x="4290" y="3120"/>
                  <a:pt x="3867" y="3120"/>
                </a:cubicBezTo>
                <a:close/>
                <a:moveTo>
                  <a:pt x="2695" y="2675"/>
                </a:moveTo>
                <a:cubicBezTo>
                  <a:pt x="3098" y="2675"/>
                  <a:pt x="3502" y="2675"/>
                  <a:pt x="3905" y="2675"/>
                </a:cubicBezTo>
                <a:cubicBezTo>
                  <a:pt x="4573" y="2675"/>
                  <a:pt x="5115" y="3199"/>
                  <a:pt x="5115" y="3846"/>
                </a:cubicBezTo>
                <a:cubicBezTo>
                  <a:pt x="5115" y="4493"/>
                  <a:pt x="4573" y="5018"/>
                  <a:pt x="3905" y="5018"/>
                </a:cubicBezTo>
                <a:cubicBezTo>
                  <a:pt x="3237" y="5018"/>
                  <a:pt x="2695" y="4493"/>
                  <a:pt x="2695" y="3846"/>
                </a:cubicBezTo>
                <a:cubicBezTo>
                  <a:pt x="2695" y="3456"/>
                  <a:pt x="2695" y="3065"/>
                  <a:pt x="2695" y="2675"/>
                </a:cubicBez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49520" y="2456815"/>
            <a:ext cx="393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1.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6599555" y="4099560"/>
            <a:ext cx="393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4.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6599555" y="2456815"/>
            <a:ext cx="393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2.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049520" y="4099560"/>
            <a:ext cx="3930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3.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379095" y="1979930"/>
            <a:ext cx="3943985" cy="14065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n-US" b="1"/>
              <a:t>Strength:</a:t>
            </a:r>
            <a:endParaRPr lang="en-US"/>
          </a:p>
          <a:p>
            <a:pPr algn="r"/>
            <a:r>
              <a:rPr lang="en-US"/>
              <a:t>India's youth population presents a dynamic and diverse talent pool for innovation and growth.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807325" y="1987550"/>
            <a:ext cx="3556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b="1"/>
              <a:t>Weakness:</a:t>
            </a:r>
            <a:endParaRPr lang="en-US"/>
          </a:p>
          <a:p>
            <a:pPr algn="l"/>
            <a:r>
              <a:rPr lang="en-US"/>
              <a:t>Challenges such as unemployment and skill gaps hinder the full potential of the youth demographic.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269240" y="3746500"/>
            <a:ext cx="417195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b="1"/>
              <a:t>Opportunity:</a:t>
            </a:r>
          </a:p>
          <a:p>
            <a:pPr algn="r"/>
            <a:r>
              <a:rPr lang="en-US"/>
              <a:t>Leveraging technology and entrepreneurship can unlock the potential of India's youth for sustainable development.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7863840" y="3714115"/>
            <a:ext cx="39611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>
                <a:sym typeface="+mn-ea"/>
              </a:rPr>
              <a:t>Threat:</a:t>
            </a:r>
          </a:p>
          <a:p>
            <a:r>
              <a:rPr lang="en-US">
                <a:sym typeface="+mn-ea"/>
              </a:rPr>
              <a:t>Social and economic disparities may impede the holistic empowerment of the youth.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 amt="17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35605" y="1052830"/>
            <a:ext cx="8740775" cy="1553210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sz="2400"/>
              <a:t>Role: Actively engage in education and skill development programs to acquire the knowledge and skills needed for personal growth and contribution to society.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8640000" cy="90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IN" altLang="en-US" sz="3600">
                <a:sym typeface="+mn-ea"/>
              </a:rPr>
              <a:t>    </a:t>
            </a:r>
            <a:r>
              <a:rPr lang="en-US" sz="3600">
                <a:sym typeface="+mn-ea"/>
              </a:rPr>
              <a:t>1. Education and Skill Development: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12420" y="935990"/>
            <a:ext cx="12494260" cy="5043805"/>
            <a:chOff x="732" y="1667"/>
            <a:chExt cx="19196" cy="7464"/>
          </a:xfrm>
        </p:grpSpPr>
        <p:sp>
          <p:nvSpPr>
            <p:cNvPr id="4" name="Chevron 3"/>
            <p:cNvSpPr/>
            <p:nvPr/>
          </p:nvSpPr>
          <p:spPr>
            <a:xfrm rot="20880000">
              <a:off x="13222" y="4777"/>
              <a:ext cx="4861" cy="2324"/>
            </a:xfrm>
            <a:prstGeom prst="chevron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ym typeface="+mn-ea"/>
                </a:rPr>
                <a:t>Skill Development Hubs</a:t>
              </a:r>
              <a:r>
                <a:rPr lang="en-AU" altLang="en-US">
                  <a:sym typeface="+mn-ea"/>
                </a:rPr>
                <a:t> </a:t>
              </a:r>
              <a:r>
                <a:rPr lang="en-US">
                  <a:sym typeface="+mn-ea"/>
                </a:rPr>
                <a:t>(Rural and Urban areas)</a:t>
              </a:r>
              <a:endParaRPr lang="en-US"/>
            </a:p>
          </p:txBody>
        </p:sp>
        <p:sp>
          <p:nvSpPr>
            <p:cNvPr id="6" name="Chevron 5"/>
            <p:cNvSpPr/>
            <p:nvPr/>
          </p:nvSpPr>
          <p:spPr>
            <a:xfrm rot="20880000">
              <a:off x="7048" y="4232"/>
              <a:ext cx="4497" cy="2391"/>
            </a:xfrm>
            <a:prstGeom prst="chevron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ym typeface="+mn-ea"/>
                </a:rPr>
                <a:t>Digital Mentorship Platforms</a:t>
              </a:r>
              <a:endParaRPr lang="en-US"/>
            </a:p>
          </p:txBody>
        </p:sp>
        <p:cxnSp>
          <p:nvCxnSpPr>
            <p:cNvPr id="9" name="Curved Connector 8"/>
            <p:cNvCxnSpPr>
              <a:stCxn id="17" idx="2"/>
              <a:endCxn id="6" idx="1"/>
            </p:cNvCxnSpPr>
            <p:nvPr/>
          </p:nvCxnSpPr>
          <p:spPr>
            <a:xfrm rot="5400000" flipH="1" flipV="1">
              <a:off x="4725" y="5387"/>
              <a:ext cx="3282" cy="3803"/>
            </a:xfrm>
            <a:prstGeom prst="curvedConnector4">
              <a:avLst>
                <a:gd name="adj1" fmla="val -36365"/>
                <a:gd name="adj2" fmla="val 62648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>
              <a:stCxn id="6" idx="3"/>
            </p:cNvCxnSpPr>
            <p:nvPr/>
          </p:nvCxnSpPr>
          <p:spPr>
            <a:xfrm>
              <a:off x="11496" y="4960"/>
              <a:ext cx="2818" cy="1250"/>
            </a:xfrm>
            <a:prstGeom prst="curvedConnector3">
              <a:avLst>
                <a:gd name="adj1" fmla="val 54436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/>
            <p:nvPr/>
          </p:nvCxnSpPr>
          <p:spPr>
            <a:xfrm flipV="1">
              <a:off x="17962" y="5316"/>
              <a:ext cx="1966" cy="121"/>
            </a:xfrm>
            <a:prstGeom prst="curvedConnector3">
              <a:avLst>
                <a:gd name="adj1" fmla="val 53306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Flowchart: Decision 16"/>
            <p:cNvSpPr/>
            <p:nvPr/>
          </p:nvSpPr>
          <p:spPr>
            <a:xfrm rot="20460000">
              <a:off x="732" y="1667"/>
              <a:ext cx="5034" cy="7465"/>
            </a:xfrm>
            <a:prstGeom prst="flowChartDecision">
              <a:avLst/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ym typeface="+mn-ea"/>
                </a:rPr>
                <a:t>Pursue continuous learning, participate in vocational training, and acquire skills aligned with emerging industries.</a:t>
              </a:r>
            </a:p>
            <a:p>
              <a:pPr algn="ctr"/>
              <a:endParaRPr lang="en-US" sz="2000"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 amt="17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16255" y="929005"/>
            <a:ext cx="9064625" cy="791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sz="2400"/>
              <a:t>Role: Act as responsible citizens by actively participating in civic activities and contributing to social causes.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9215755" cy="89979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IN" altLang="en-US" sz="3600">
                <a:sym typeface="+mn-ea"/>
              </a:rPr>
              <a:t>    </a:t>
            </a:r>
            <a:r>
              <a:rPr lang="en-US" sz="3600">
                <a:sym typeface="+mn-ea"/>
              </a:rPr>
              <a:t>2.Civic Engagement and Social Responsibility:</a:t>
            </a:r>
          </a:p>
        </p:txBody>
      </p:sp>
      <p:grpSp>
        <p:nvGrpSpPr>
          <p:cNvPr id="20" name="Group 19"/>
          <p:cNvGrpSpPr/>
          <p:nvPr/>
        </p:nvGrpSpPr>
        <p:grpSpPr>
          <a:xfrm rot="21180000" flipH="1">
            <a:off x="-641350" y="1130300"/>
            <a:ext cx="12590145" cy="5189220"/>
            <a:chOff x="732" y="1667"/>
            <a:chExt cx="19196" cy="7464"/>
          </a:xfrm>
        </p:grpSpPr>
        <p:sp>
          <p:nvSpPr>
            <p:cNvPr id="5" name="Chevron 4"/>
            <p:cNvSpPr/>
            <p:nvPr/>
          </p:nvSpPr>
          <p:spPr>
            <a:xfrm rot="20880000">
              <a:off x="13222" y="4777"/>
              <a:ext cx="4861" cy="2324"/>
            </a:xfrm>
            <a:prstGeom prst="chevron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ym typeface="+mn-ea"/>
                </a:rPr>
                <a:t>Interactive Civic Education Programs</a:t>
              </a:r>
              <a:endParaRPr lang="en-US"/>
            </a:p>
          </p:txBody>
        </p:sp>
        <p:sp>
          <p:nvSpPr>
            <p:cNvPr id="6" name="Chevron 5"/>
            <p:cNvSpPr/>
            <p:nvPr/>
          </p:nvSpPr>
          <p:spPr>
            <a:xfrm rot="20880000">
              <a:off x="7048" y="4232"/>
              <a:ext cx="4497" cy="2391"/>
            </a:xfrm>
            <a:prstGeom prst="chevron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>
                  <a:sym typeface="+mn-ea"/>
                </a:rPr>
                <a:t>Youth-Led Community Projects Fund</a:t>
              </a:r>
              <a:endParaRPr lang="en-US"/>
            </a:p>
          </p:txBody>
        </p:sp>
        <p:cxnSp>
          <p:nvCxnSpPr>
            <p:cNvPr id="9" name="Curved Connector 8"/>
            <p:cNvCxnSpPr>
              <a:stCxn id="17" idx="2"/>
              <a:endCxn id="6" idx="1"/>
            </p:cNvCxnSpPr>
            <p:nvPr/>
          </p:nvCxnSpPr>
          <p:spPr>
            <a:xfrm rot="5400000" flipH="1" flipV="1">
              <a:off x="4725" y="5387"/>
              <a:ext cx="3282" cy="3803"/>
            </a:xfrm>
            <a:prstGeom prst="curvedConnector4">
              <a:avLst>
                <a:gd name="adj1" fmla="val -36365"/>
                <a:gd name="adj2" fmla="val 62648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Curved Connector 10"/>
            <p:cNvCxnSpPr>
              <a:stCxn id="6" idx="3"/>
            </p:cNvCxnSpPr>
            <p:nvPr/>
          </p:nvCxnSpPr>
          <p:spPr>
            <a:xfrm>
              <a:off x="11496" y="4960"/>
              <a:ext cx="2818" cy="1250"/>
            </a:xfrm>
            <a:prstGeom prst="curvedConnector3">
              <a:avLst>
                <a:gd name="adj1" fmla="val 54436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/>
            <p:nvPr/>
          </p:nvCxnSpPr>
          <p:spPr>
            <a:xfrm flipV="1">
              <a:off x="17962" y="5316"/>
              <a:ext cx="1966" cy="121"/>
            </a:xfrm>
            <a:prstGeom prst="curvedConnector3">
              <a:avLst>
                <a:gd name="adj1" fmla="val 53306"/>
              </a:avLst>
            </a:prstGeom>
            <a:ln w="19050" cap="flat" cmpd="sng" algn="ctr">
              <a:solidFill>
                <a:schemeClr val="accent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Flowchart: Decision 16"/>
            <p:cNvSpPr/>
            <p:nvPr/>
          </p:nvSpPr>
          <p:spPr>
            <a:xfrm rot="20460000">
              <a:off x="732" y="1667"/>
              <a:ext cx="5034" cy="7465"/>
            </a:xfrm>
            <a:prstGeom prst="flowChartDecision">
              <a:avLst/>
            </a:prstGeom>
            <a:ln w="28575"/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>
                  <a:sym typeface="+mn-ea"/>
                </a:rPr>
                <a:t>Volunteer for community service, engage in </a:t>
              </a:r>
              <a:r>
                <a:rPr lang="en-US" sz="1900">
                  <a:sym typeface="+mn-ea"/>
                </a:rPr>
                <a:t>environmental</a:t>
              </a:r>
              <a:r>
                <a:rPr lang="en-US" sz="2000">
                  <a:sym typeface="+mn-ea"/>
                </a:rPr>
                <a:t> initiatives, and advocate for social justice.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>
            <a:alphaModFix amt="10000"/>
          </a:blip>
          <a:stretch>
            <a:fillRect t="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3762375" y="1460500"/>
            <a:ext cx="4286250" cy="428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1453515" y="2202180"/>
            <a:ext cx="2308860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Malala Yousafzai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-198120" y="-205740"/>
            <a:ext cx="12672000" cy="17640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</a:t>
            </a:r>
            <a:r>
              <a:rPr lang="en-IN" altLang="en-US" sz="44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Success stories </a:t>
            </a:r>
          </a:p>
          <a:p>
            <a:pPr algn="l"/>
            <a:r>
              <a:rPr lang="en-AU" altLang="en-IN" sz="36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               </a:t>
            </a:r>
            <a:r>
              <a:rPr lang="en-IN" altLang="en-US" sz="32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young people bringing change to</a:t>
            </a:r>
            <a:r>
              <a:rPr lang="en-AU" altLang="en-IN" sz="32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t</a:t>
            </a:r>
            <a:r>
              <a:rPr lang="en-IN" altLang="en-US" sz="320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heir countries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12775" y="3244850"/>
            <a:ext cx="3333750" cy="82994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Greta Thunberg (Sweden)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493760" y="3462020"/>
            <a:ext cx="3323590" cy="82994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Joshua Wong (Hong Kong)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940040" y="1990725"/>
            <a:ext cx="4010025" cy="82994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Emma Gonzalez and Parkland Survivors (United States)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27990" y="4392930"/>
            <a:ext cx="3702685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Juan Guaidó (Venezuela)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027545" y="5071110"/>
            <a:ext cx="4123055" cy="82994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Alexandria Ocasio-Cortez (United States)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537460" y="5541010"/>
            <a:ext cx="4364990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sz="2400" i="1">
                <a:ln w="15875">
                  <a:noFill/>
                </a:ln>
                <a:solidFill>
                  <a:prstClr val="black"/>
                </a:solidFill>
                <a:effectLst/>
              </a:rPr>
              <a:t>Kailash Satyarthi (India)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57530" y="1239520"/>
            <a:ext cx="11362690" cy="2759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3800">
                <a:ln w="10160">
                  <a:solidFill>
                    <a:schemeClr val="accent5"/>
                  </a:solidFill>
                  <a:prstDash val="solid"/>
                </a:ln>
                <a:blipFill>
                  <a:blip r:embed="rId2"/>
                  <a:stretch>
                    <a:fillRect/>
                  </a:stretch>
                </a:blip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54250" y="3244850"/>
            <a:ext cx="768413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/>
              <a:t>Join the Voice of Youth Empowered Indians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beeru</dc:creator>
  <cp:lastModifiedBy>Nisha Rawat</cp:lastModifiedBy>
  <cp:revision>13</cp:revision>
  <dcterms:created xsi:type="dcterms:W3CDTF">2024-01-06T07:59:00Z</dcterms:created>
  <dcterms:modified xsi:type="dcterms:W3CDTF">2026-05-01T10:51:32Z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E68C81B0BC26482D9444B4B8FE5E32D9_11</vt:lpwstr>
  </property>
  <property fmtid="{D5CDD505-2E9C-101B-9397-08002B2CF9AE}" pid="3" name="KSOProductBuildVer">
    <vt:lpwstr>1033-12.2.0.13410</vt:lpwstr>
  </property>
</Properties>
</file>